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Young Serif"/>
      <p:regular r:id="rId21"/>
    </p:embeddedFont>
    <p:embeddedFont>
      <p:font typeface="Rubik"/>
      <p:regular r:id="rId22"/>
      <p:bold r:id="rId23"/>
      <p:italic r:id="rId24"/>
      <p:boldItalic r:id="rId25"/>
    </p:embeddedFont>
    <p:embeddedFont>
      <p:font typeface="Rubik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ubik-regular.fntdata"/><Relationship Id="rId21" Type="http://schemas.openxmlformats.org/officeDocument/2006/relationships/font" Target="fonts/YoungSerif-regular.fntdata"/><Relationship Id="rId24" Type="http://schemas.openxmlformats.org/officeDocument/2006/relationships/font" Target="fonts/Rubik-italic.fntdata"/><Relationship Id="rId23" Type="http://schemas.openxmlformats.org/officeDocument/2006/relationships/font" Target="fonts/Rubik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ubikSemiBold-regular.fntdata"/><Relationship Id="rId25" Type="http://schemas.openxmlformats.org/officeDocument/2006/relationships/font" Target="fonts/Rubik-boldItalic.fntdata"/><Relationship Id="rId28" Type="http://schemas.openxmlformats.org/officeDocument/2006/relationships/font" Target="fonts/RubikSemiBold-italic.fntdata"/><Relationship Id="rId27" Type="http://schemas.openxmlformats.org/officeDocument/2006/relationships/font" Target="fonts/RubikSemi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ubik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ebe200f84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ebe200f84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ebe200f84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ebe200f84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ebe200f84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ebe200f84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ebe200f84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ebe200f84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ebe200f84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ebe200f84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ebe200f84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ebe200f84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ebe200f84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debe200f84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82997ce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82997ce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82997ce2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82997ce2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82997ce2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82997ce2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038974e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038974e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038974ea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e038974e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038974ea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038974ea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039515f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e039515f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06" name="Google Shape;106;p2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1" name="Google Shape;121;p2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2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2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4" name="Google Shape;154;p3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68" name="Google Shape;168;p3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3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5" name="Google Shape;175;p3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0" name="Google Shape;180;p3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34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4" name="Google Shape;184;p34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5" name="Google Shape;185;p34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8" name="Google Shape;188;p3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9" name="Google Shape;189;p35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0" name="Google Shape;190;p3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1" name="Google Shape;191;p35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2" name="Google Shape;192;p35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6" name="Google Shape;196;p3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7" name="Google Shape;197;p36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8" name="Google Shape;198;p3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9" name="Google Shape;199;p36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6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1" name="Google Shape;201;p36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3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5" name="Google Shape;205;p3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37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7" name="Google Shape;207;p37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8" name="Google Shape;208;p37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7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0" name="Google Shape;210;p37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3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3" name="Google Shape;213;p3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6" name="Google Shape;216;p3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7" name="Google Shape;217;p38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8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9" name="Google Shape;219;p38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0" name="Google Shape;220;p3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1" name="Google Shape;221;p38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2" name="Google Shape;222;p3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3" name="Google Shape;223;p38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7" name="Google Shape;227;p3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8" name="Google Shape;228;p39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9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0" name="Google Shape;230;p39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1" name="Google Shape;231;p39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2" name="Google Shape;232;p39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3" name="Google Shape;233;p39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4" name="Google Shape;234;p39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5" name="Google Shape;235;p3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8" name="Google Shape;238;p4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9" name="Google Shape;239;p40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40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40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2" name="Google Shape;242;p40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3" name="Google Shape;243;p40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4" name="Google Shape;244;p40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5" name="Google Shape;245;p40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6" name="Google Shape;246;p40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7" name="Google Shape;247;p40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8" name="Google Shape;248;p40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9" name="Google Shape;249;p40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0" name="Google Shape;250;p40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1" name="Google Shape;251;p40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2" name="Google Shape;252;p40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5" name="Google Shape;255;p41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ECN 310 Final Project</a:t>
            </a:r>
            <a:endParaRPr/>
          </a:p>
        </p:txBody>
      </p:sp>
      <p:sp>
        <p:nvSpPr>
          <p:cNvPr id="263" name="Google Shape;263;p43"/>
          <p:cNvSpPr txBox="1"/>
          <p:nvPr>
            <p:ph idx="1" type="subTitle"/>
          </p:nvPr>
        </p:nvSpPr>
        <p:spPr>
          <a:xfrm>
            <a:off x="2369850" y="3353800"/>
            <a:ext cx="4404300" cy="7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Erik Romero, Carson </a:t>
            </a:r>
            <a:r>
              <a:rPr lang="en"/>
              <a:t>Szilagyi, Ekamjot Gill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269" name="Google Shape;269;p44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Prices of gasoline are a definitive factor in cost of living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Increases in gas prices directly affect american commuters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Gasoline prices also have far reaching secondary effects on the cost of transportation and </a:t>
            </a:r>
            <a:r>
              <a:rPr lang="en"/>
              <a:t>travel</a:t>
            </a:r>
            <a:r>
              <a:rPr lang="en"/>
              <a:t>, which affect prices of most consumer goods</a:t>
            </a:r>
            <a:endParaRPr/>
          </a:p>
        </p:txBody>
      </p:sp>
      <p:pic>
        <p:nvPicPr>
          <p:cNvPr id="270" name="Google Shape;270;p44"/>
          <p:cNvPicPr preferRelativeResize="0"/>
          <p:nvPr/>
        </p:nvPicPr>
        <p:blipFill rotWithShape="1">
          <a:blip r:embed="rId3">
            <a:alphaModFix/>
          </a:blip>
          <a:srcRect b="0" l="0" r="12656" t="0"/>
          <a:stretch/>
        </p:blipFill>
        <p:spPr>
          <a:xfrm>
            <a:off x="4759250" y="1764962"/>
            <a:ext cx="4140000" cy="31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276" name="Google Shape;276;p45"/>
          <p:cNvSpPr txBox="1"/>
          <p:nvPr>
            <p:ph idx="3" type="subTitle"/>
          </p:nvPr>
        </p:nvSpPr>
        <p:spPr>
          <a:xfrm>
            <a:off x="688450" y="1092900"/>
            <a:ext cx="3309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Gasoline Prices (Y) (univariate and multivariate regression)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Crude oil prices (X) (univariate and multivariate regression)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Average US gas taxes (multivariate regression)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Crude oil refining cost (multivariate regression)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Unit of observation is US dollars</a:t>
            </a:r>
            <a:endParaRPr/>
          </a:p>
        </p:txBody>
      </p:sp>
      <p:sp>
        <p:nvSpPr>
          <p:cNvPr id="278" name="Google Shape;278;p45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Energy Information Administration (EIA)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is a US </a:t>
            </a:r>
            <a:r>
              <a:rPr lang="en"/>
              <a:t>government</a:t>
            </a:r>
            <a:r>
              <a:rPr lang="en"/>
              <a:t> agency focused on producing data to inform policy and research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Due to this it is considered a very </a:t>
            </a:r>
            <a:r>
              <a:rPr lang="en"/>
              <a:t>reliable</a:t>
            </a:r>
            <a:r>
              <a:rPr lang="en"/>
              <a:t> source</a:t>
            </a:r>
            <a:endParaRPr/>
          </a:p>
        </p:txBody>
      </p:sp>
      <p:sp>
        <p:nvSpPr>
          <p:cNvPr id="279" name="Google Shape;279;p45"/>
          <p:cNvSpPr txBox="1"/>
          <p:nvPr/>
        </p:nvSpPr>
        <p:spPr>
          <a:xfrm>
            <a:off x="5301825" y="10671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Young Serif"/>
                <a:ea typeface="Young Serif"/>
                <a:cs typeface="Young Serif"/>
                <a:sym typeface="Young Serif"/>
              </a:rPr>
              <a:t>Data Sources</a:t>
            </a:r>
            <a:endParaRPr sz="2000">
              <a:solidFill>
                <a:schemeClr val="accent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</a:t>
            </a:r>
            <a:endParaRPr/>
          </a:p>
        </p:txBody>
      </p:sp>
      <p:sp>
        <p:nvSpPr>
          <p:cNvPr id="285" name="Google Shape;285;p4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Design</a:t>
            </a:r>
            <a:endParaRPr/>
          </a:p>
        </p:txBody>
      </p:sp>
      <p:sp>
        <p:nvSpPr>
          <p:cNvPr id="286" name="Google Shape;286;p46"/>
          <p:cNvSpPr txBox="1"/>
          <p:nvPr>
            <p:ph idx="2" type="body"/>
          </p:nvPr>
        </p:nvSpPr>
        <p:spPr>
          <a:xfrm>
            <a:off x="456400" y="1983350"/>
            <a:ext cx="82446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 used univariate regression to capture the main relationship of interest:  between crude oil and gasoline prices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 next extended our relationship of interest to include refining cost and taxes, which we believed could be responsible for part of the change in gasoline prices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In this way we were able to capture and control for more potentially explanatory variables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 used libraries discussed in class (numpy, pandas, matplotlib etc) to perform our analysis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 also cleaned and refined our data so that it only contained the years 2020-2026, as we felt this was a relevant timeframe and would only cover prices post COVID-19, which would help to avoid distortion in results.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</a:t>
            </a:r>
            <a:endParaRPr/>
          </a:p>
        </p:txBody>
      </p:sp>
      <p:sp>
        <p:nvSpPr>
          <p:cNvPr id="292" name="Google Shape;292;p47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and Data Cleaning</a:t>
            </a:r>
            <a:endParaRPr/>
          </a:p>
        </p:txBody>
      </p:sp>
      <p:sp>
        <p:nvSpPr>
          <p:cNvPr id="293" name="Google Shape;293;p47"/>
          <p:cNvSpPr txBox="1"/>
          <p:nvPr>
            <p:ph idx="2" type="body"/>
          </p:nvPr>
        </p:nvSpPr>
        <p:spPr>
          <a:xfrm>
            <a:off x="456400" y="1983350"/>
            <a:ext cx="41157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 imported the relevant libraries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 loaded the data from an excel file and named the columns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 then removed any rows missing values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Finally we displayed the first rows to make sure it works.  </a:t>
            </a:r>
            <a:endParaRPr/>
          </a:p>
        </p:txBody>
      </p:sp>
      <p:pic>
        <p:nvPicPr>
          <p:cNvPr id="294" name="Google Shape;2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800" y="1930799"/>
            <a:ext cx="3345601" cy="281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</a:t>
            </a:r>
            <a:endParaRPr/>
          </a:p>
        </p:txBody>
      </p:sp>
      <p:sp>
        <p:nvSpPr>
          <p:cNvPr id="300" name="Google Shape;300;p48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Univariate Regression</a:t>
            </a:r>
            <a:endParaRPr/>
          </a:p>
        </p:txBody>
      </p:sp>
      <p:sp>
        <p:nvSpPr>
          <p:cNvPr id="301" name="Google Shape;301;p48"/>
          <p:cNvSpPr txBox="1"/>
          <p:nvPr>
            <p:ph idx="2" type="body"/>
          </p:nvPr>
        </p:nvSpPr>
        <p:spPr>
          <a:xfrm>
            <a:off x="456400" y="1983350"/>
            <a:ext cx="39051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 performed an OLS linear regression using crude oil as the independent (x) variable and Gulf Coast Gasoline as the dependent variable (y)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A 1 dollar increase in the price of a barrel oil is correlated to a ~3 cent increase in the price of a gallon gasoline 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 </a:t>
            </a:r>
            <a:r>
              <a:rPr lang="en"/>
              <a:t>received</a:t>
            </a:r>
            <a:r>
              <a:rPr lang="en"/>
              <a:t> conclusive evidence that there is a correlation between the crude oil and gulf coast gasoline prices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R</a:t>
            </a:r>
            <a:r>
              <a:rPr baseline="30000" lang="en"/>
              <a:t>2</a:t>
            </a:r>
            <a:r>
              <a:rPr lang="en"/>
              <a:t>: </a:t>
            </a:r>
            <a:r>
              <a:rPr lang="en"/>
              <a:t>~ 77% of variance in gas prices is explained by oil price</a:t>
            </a:r>
            <a:endParaRPr/>
          </a:p>
        </p:txBody>
      </p:sp>
      <p:pic>
        <p:nvPicPr>
          <p:cNvPr id="302" name="Google Shape;3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995" y="1907850"/>
            <a:ext cx="4053405" cy="28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</a:t>
            </a:r>
            <a:endParaRPr/>
          </a:p>
        </p:txBody>
      </p:sp>
      <p:sp>
        <p:nvSpPr>
          <p:cNvPr id="308" name="Google Shape;308;p49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</a:t>
            </a:r>
            <a:endParaRPr/>
          </a:p>
        </p:txBody>
      </p:sp>
      <p:pic>
        <p:nvPicPr>
          <p:cNvPr id="309" name="Google Shape;30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487" y="2053325"/>
            <a:ext cx="7941025" cy="2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</a:t>
            </a:r>
            <a:endParaRPr/>
          </a:p>
        </p:txBody>
      </p:sp>
      <p:sp>
        <p:nvSpPr>
          <p:cNvPr id="315" name="Google Shape;315;p50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</a:t>
            </a:r>
            <a:endParaRPr/>
          </a:p>
        </p:txBody>
      </p:sp>
      <p:pic>
        <p:nvPicPr>
          <p:cNvPr id="316" name="Google Shape;31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050" y="1841800"/>
            <a:ext cx="5905900" cy="308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</a:t>
            </a:r>
            <a:endParaRPr/>
          </a:p>
        </p:txBody>
      </p:sp>
      <p:sp>
        <p:nvSpPr>
          <p:cNvPr id="322" name="Google Shape;322;p51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Line/Time Graph</a:t>
            </a:r>
            <a:endParaRPr/>
          </a:p>
        </p:txBody>
      </p:sp>
      <p:pic>
        <p:nvPicPr>
          <p:cNvPr id="323" name="Google Shape;32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588" y="2229701"/>
            <a:ext cx="7414824" cy="18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Notebook</a:t>
            </a:r>
            <a:endParaRPr/>
          </a:p>
        </p:txBody>
      </p:sp>
      <p:sp>
        <p:nvSpPr>
          <p:cNvPr id="329" name="Google Shape;329;p52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Line/Time Graph</a:t>
            </a:r>
            <a:endParaRPr/>
          </a:p>
        </p:txBody>
      </p:sp>
      <p:pic>
        <p:nvPicPr>
          <p:cNvPr id="330" name="Google Shape;33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988" y="1960448"/>
            <a:ext cx="5795927" cy="279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/>
              <a:t>Notebook</a:t>
            </a:r>
            <a:endParaRPr/>
          </a:p>
        </p:txBody>
      </p:sp>
      <p:sp>
        <p:nvSpPr>
          <p:cNvPr id="336" name="Google Shape;336;p5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Multivariate</a:t>
            </a:r>
            <a:endParaRPr/>
          </a:p>
        </p:txBody>
      </p:sp>
      <p:sp>
        <p:nvSpPr>
          <p:cNvPr id="337" name="Google Shape;337;p53"/>
          <p:cNvSpPr txBox="1"/>
          <p:nvPr>
            <p:ph idx="2" type="body"/>
          </p:nvPr>
        </p:nvSpPr>
        <p:spPr>
          <a:xfrm>
            <a:off x="369050" y="1998117"/>
            <a:ext cx="48966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-"/>
            </a:pPr>
            <a:r>
              <a:rPr lang="en"/>
              <a:t>R^2 Increased from .772 to .823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-"/>
            </a:pPr>
            <a:r>
              <a:rPr lang="en"/>
              <a:t>About 82% of the Variation in U.S. </a:t>
            </a:r>
            <a:r>
              <a:rPr lang="en"/>
              <a:t>gulf</a:t>
            </a:r>
            <a:r>
              <a:rPr lang="en"/>
              <a:t> coast gas </a:t>
            </a:r>
            <a:r>
              <a:rPr lang="en"/>
              <a:t>prices</a:t>
            </a:r>
            <a:r>
              <a:rPr lang="en"/>
              <a:t> is explained by our 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Coefficients</a:t>
            </a:r>
            <a:endParaRPr b="1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-"/>
            </a:pPr>
            <a:r>
              <a:rPr lang="en"/>
              <a:t> Crude oil : $1 ^ = $ .021 cent increase in gas prices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-"/>
            </a:pPr>
            <a:r>
              <a:rPr lang="en"/>
              <a:t>Taxes: $1 ^ = $3.35 increase in gas prices.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-"/>
            </a:pPr>
            <a:r>
              <a:rPr lang="en"/>
              <a:t>Refining cost: $1 ^ = $ .83 cent increase in gas prices</a:t>
            </a:r>
            <a:endParaRPr/>
          </a:p>
        </p:txBody>
      </p:sp>
      <p:pic>
        <p:nvPicPr>
          <p:cNvPr id="338" name="Google Shape;338;p53" title="Screenshot 2026-04-21 at 6.32.20 A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850" y="1886200"/>
            <a:ext cx="3337850" cy="291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Causation?</a:t>
            </a:r>
            <a:endParaRPr/>
          </a:p>
        </p:txBody>
      </p:sp>
      <p:sp>
        <p:nvSpPr>
          <p:cNvPr id="344" name="Google Shape;344;p54"/>
          <p:cNvSpPr txBox="1"/>
          <p:nvPr>
            <p:ph idx="2" type="body"/>
          </p:nvPr>
        </p:nvSpPr>
        <p:spPr>
          <a:xfrm>
            <a:off x="456400" y="1983350"/>
            <a:ext cx="8406300" cy="29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Correlation is NOT causation</a:t>
            </a:r>
            <a:endParaRPr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A change in price of oil does not cause a change in price of gas</a:t>
            </a:r>
            <a:endParaRPr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High degree of association between the variables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350" name="Google Shape;350;p5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Omitted Variables</a:t>
            </a:r>
            <a:endParaRPr/>
          </a:p>
        </p:txBody>
      </p:sp>
      <p:sp>
        <p:nvSpPr>
          <p:cNvPr id="351" name="Google Shape;351;p55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Inventory stockpiles or shortages</a:t>
            </a:r>
            <a:endParaRPr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Way of sourcing oil</a:t>
            </a:r>
            <a:endParaRPr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Demand for oil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Methods</a:t>
            </a:r>
            <a:endParaRPr/>
          </a:p>
        </p:txBody>
      </p:sp>
      <p:sp>
        <p:nvSpPr>
          <p:cNvPr id="357" name="Google Shape;357;p5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 Change</a:t>
            </a:r>
            <a:endParaRPr/>
          </a:p>
        </p:txBody>
      </p:sp>
      <p:sp>
        <p:nvSpPr>
          <p:cNvPr id="358" name="Google Shape;358;p56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Trade sanctions and </a:t>
            </a:r>
            <a:r>
              <a:rPr lang="en"/>
              <a:t>Embargoes</a:t>
            </a:r>
            <a:endParaRPr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Oil reserve releases</a:t>
            </a:r>
            <a:endParaRPr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Fuel regulations and other incentives</a:t>
            </a:r>
            <a:endParaRPr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Production Regulations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